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6" r:id="rId2"/>
  </p:sldIdLst>
  <p:sldSz cx="11879263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0C0C"/>
    <a:srgbClr val="909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C4806E-16E5-419F-A69A-07383B7A6ECF}" v="2" dt="2025-12-10T05:56:54.2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78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14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CHIYAMA Yuusuke" userId="758e3d5f-3bbb-4028-bd3a-66c5ef996226" providerId="ADAL" clId="{8DA8F7F8-1A63-4483-BCFA-22CC77006ABC}"/>
    <pc:docChg chg="modSld">
      <pc:chgData name="UCHIYAMA Yuusuke" userId="758e3d5f-3bbb-4028-bd3a-66c5ef996226" providerId="ADAL" clId="{8DA8F7F8-1A63-4483-BCFA-22CC77006ABC}" dt="2025-12-10T05:56:54.215" v="1" actId="20577"/>
      <pc:docMkLst>
        <pc:docMk/>
      </pc:docMkLst>
      <pc:sldChg chg="modSp">
        <pc:chgData name="UCHIYAMA Yuusuke" userId="758e3d5f-3bbb-4028-bd3a-66c5ef996226" providerId="ADAL" clId="{8DA8F7F8-1A63-4483-BCFA-22CC77006ABC}" dt="2025-12-10T05:56:54.215" v="1" actId="20577"/>
        <pc:sldMkLst>
          <pc:docMk/>
          <pc:sldMk cId="1699194054" sldId="256"/>
        </pc:sldMkLst>
        <pc:spChg chg="mod">
          <ac:chgData name="UCHIYAMA Yuusuke" userId="758e3d5f-3bbb-4028-bd3a-66c5ef996226" providerId="ADAL" clId="{8DA8F7F8-1A63-4483-BCFA-22CC77006ABC}" dt="2025-12-10T05:56:54.215" v="1" actId="20577"/>
          <ac:spMkLst>
            <pc:docMk/>
            <pc:sldMk cId="1699194054" sldId="256"/>
            <ac:spMk id="44" creationId="{831D3A19-029D-EA3F-518E-EE22DDF131E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84908" y="706933"/>
            <a:ext cx="8909447" cy="1503857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4908" y="2268784"/>
            <a:ext cx="8909447" cy="1042900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7169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9467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512" y="1076898"/>
            <a:ext cx="10245864" cy="1796828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512" y="2890725"/>
            <a:ext cx="10245864" cy="944910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3450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6699" y="1149890"/>
            <a:ext cx="5048687" cy="274073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3877" y="1149890"/>
            <a:ext cx="5048687" cy="274073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5142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247" y="229978"/>
            <a:ext cx="10245864" cy="834921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8247" y="1058899"/>
            <a:ext cx="5025485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8247" y="1577849"/>
            <a:ext cx="5025485" cy="232077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13877" y="1058899"/>
            <a:ext cx="5050234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13877" y="1577849"/>
            <a:ext cx="5050234" cy="232077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5173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4244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7927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247" y="287972"/>
            <a:ext cx="3831371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0234" y="621941"/>
            <a:ext cx="6013877" cy="3069707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8247" y="1295877"/>
            <a:ext cx="3831371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6838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247" y="287972"/>
            <a:ext cx="3831371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50234" y="621941"/>
            <a:ext cx="6013877" cy="3069707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8247" y="1295877"/>
            <a:ext cx="3831371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3683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2549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01098" y="229978"/>
            <a:ext cx="2561466" cy="366065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6700" y="229978"/>
            <a:ext cx="7535907" cy="366065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3636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6700" y="229978"/>
            <a:ext cx="10245864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6700" y="1149890"/>
            <a:ext cx="10245864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6699" y="4003618"/>
            <a:ext cx="2672834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9986EE-3F7C-4D3D-BBD8-750034447C60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35006" y="4003618"/>
            <a:ext cx="4009251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89730" y="4003618"/>
            <a:ext cx="2672834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6639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kumimoji="1"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kumimoji="1"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kumimoji="1"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kumimoji="1"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kumimoji="1"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0CB1CFFC-03D2-7324-1A73-6FA69E963BF6}"/>
              </a:ext>
            </a:extLst>
          </p:cNvPr>
          <p:cNvGrpSpPr/>
          <p:nvPr/>
        </p:nvGrpSpPr>
        <p:grpSpPr>
          <a:xfrm>
            <a:off x="0" y="-36266"/>
            <a:ext cx="11894891" cy="4355854"/>
            <a:chOff x="0" y="525776"/>
            <a:chExt cx="11894891" cy="4355854"/>
          </a:xfrm>
        </p:grpSpPr>
        <p:pic>
          <p:nvPicPr>
            <p:cNvPr id="6" name="図 5" descr="グラフィカル ユーザー インターフェイス, ダイアグラム&#10;&#10;自動的に生成された説明">
              <a:extLst>
                <a:ext uri="{FF2B5EF4-FFF2-40B4-BE49-F238E27FC236}">
                  <a16:creationId xmlns:a16="http://schemas.microsoft.com/office/drawing/2014/main" id="{4261D5B3-C2FE-E179-2B3A-D92CEB4F1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99" t="5063" b="9612"/>
            <a:stretch/>
          </p:blipFill>
          <p:spPr>
            <a:xfrm>
              <a:off x="0" y="525776"/>
              <a:ext cx="11894891" cy="4355854"/>
            </a:xfrm>
            <a:prstGeom prst="rect">
              <a:avLst/>
            </a:prstGeom>
          </p:spPr>
        </p:pic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90C30F78-E962-80C3-7A2D-5E5520B817CC}"/>
                </a:ext>
              </a:extLst>
            </p:cNvPr>
            <p:cNvSpPr/>
            <p:nvPr/>
          </p:nvSpPr>
          <p:spPr>
            <a:xfrm>
              <a:off x="177800" y="1498600"/>
              <a:ext cx="666000" cy="482600"/>
            </a:xfrm>
            <a:prstGeom prst="rect">
              <a:avLst/>
            </a:prstGeom>
            <a:solidFill>
              <a:srgbClr val="90909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E90C55D3-B18F-F796-F316-95634194B04D}"/>
              </a:ext>
            </a:extLst>
          </p:cNvPr>
          <p:cNvGrpSpPr/>
          <p:nvPr/>
        </p:nvGrpSpPr>
        <p:grpSpPr>
          <a:xfrm>
            <a:off x="10689669" y="83152"/>
            <a:ext cx="1205221" cy="338554"/>
            <a:chOff x="3536579" y="806119"/>
            <a:chExt cx="1205221" cy="338554"/>
          </a:xfrm>
        </p:grpSpPr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352E15F8-E38C-5BBD-039D-347E0C0EFE22}"/>
                </a:ext>
              </a:extLst>
            </p:cNvPr>
            <p:cNvCxnSpPr>
              <a:cxnSpLocks/>
            </p:cNvCxnSpPr>
            <p:nvPr/>
          </p:nvCxnSpPr>
          <p:spPr>
            <a:xfrm>
              <a:off x="3806190" y="1144673"/>
              <a:ext cx="666000" cy="0"/>
            </a:xfrm>
            <a:prstGeom prst="straightConnector1">
              <a:avLst/>
            </a:prstGeom>
            <a:ln w="3175">
              <a:solidFill>
                <a:schemeClr val="bg1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6163E41-AA1F-742C-094C-C08F135815D0}"/>
                </a:ext>
              </a:extLst>
            </p:cNvPr>
            <p:cNvSpPr txBox="1"/>
            <p:nvPr/>
          </p:nvSpPr>
          <p:spPr>
            <a:xfrm>
              <a:off x="3536579" y="806119"/>
              <a:ext cx="120522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600" dirty="0">
                  <a:solidFill>
                    <a:schemeClr val="bg1"/>
                  </a:solidFill>
                </a:rPr>
                <a:t>1 m</a:t>
              </a:r>
              <a:endParaRPr lang="ja-JP" altLang="en-US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B1E8ED6-34CF-B238-18BF-CE6FA5064FA6}"/>
              </a:ext>
            </a:extLst>
          </p:cNvPr>
          <p:cNvSpPr txBox="1"/>
          <p:nvPr/>
        </p:nvSpPr>
        <p:spPr>
          <a:xfrm>
            <a:off x="5793087" y="3733614"/>
            <a:ext cx="27158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400" b="1" dirty="0"/>
              <a:t>CS inner shield</a:t>
            </a: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FD92AFA0-40AE-D4BF-C268-9D15A6C72E3F}"/>
              </a:ext>
            </a:extLst>
          </p:cNvPr>
          <p:cNvCxnSpPr>
            <a:cxnSpLocks/>
          </p:cNvCxnSpPr>
          <p:nvPr/>
        </p:nvCxnSpPr>
        <p:spPr>
          <a:xfrm flipH="1" flipV="1">
            <a:off x="6086176" y="2425148"/>
            <a:ext cx="983076" cy="1400799"/>
          </a:xfrm>
          <a:prstGeom prst="straightConnector1">
            <a:avLst/>
          </a:prstGeom>
          <a:ln>
            <a:solidFill>
              <a:schemeClr val="tx1"/>
            </a:solidFill>
            <a:tailEnd type="oval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E0148C8-29A8-F30E-071A-0B262CA63EB8}"/>
              </a:ext>
            </a:extLst>
          </p:cNvPr>
          <p:cNvCxnSpPr>
            <a:cxnSpLocks/>
          </p:cNvCxnSpPr>
          <p:nvPr/>
        </p:nvCxnSpPr>
        <p:spPr>
          <a:xfrm flipH="1">
            <a:off x="6197653" y="807835"/>
            <a:ext cx="505792" cy="762867"/>
          </a:xfrm>
          <a:prstGeom prst="straightConnector1">
            <a:avLst/>
          </a:prstGeom>
          <a:ln>
            <a:tailEnd type="oval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346A8FD-7A80-5BFC-FEAD-5D64C3BF450F}"/>
              </a:ext>
            </a:extLst>
          </p:cNvPr>
          <p:cNvSpPr txBox="1"/>
          <p:nvPr/>
        </p:nvSpPr>
        <p:spPr>
          <a:xfrm>
            <a:off x="10481121" y="3825947"/>
            <a:ext cx="1398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Beam dump</a:t>
            </a:r>
            <a:endParaRPr lang="ja-JP" altLang="en-US" dirty="0">
              <a:solidFill>
                <a:schemeClr val="bg1"/>
              </a:solidFill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6CDCF6F-4BD4-084B-7E1A-AE08F75A13B7}"/>
              </a:ext>
            </a:extLst>
          </p:cNvPr>
          <p:cNvSpPr txBox="1"/>
          <p:nvPr/>
        </p:nvSpPr>
        <p:spPr>
          <a:xfrm>
            <a:off x="6412139" y="459598"/>
            <a:ext cx="1085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CS coils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D5C2F3D6-A061-D603-80CB-12C90D8829E0}"/>
              </a:ext>
            </a:extLst>
          </p:cNvPr>
          <p:cNvCxnSpPr>
            <a:cxnSpLocks/>
          </p:cNvCxnSpPr>
          <p:nvPr/>
        </p:nvCxnSpPr>
        <p:spPr>
          <a:xfrm flipV="1">
            <a:off x="4314823" y="2314508"/>
            <a:ext cx="542182" cy="958580"/>
          </a:xfrm>
          <a:prstGeom prst="straightConnector1">
            <a:avLst/>
          </a:prstGeom>
          <a:ln>
            <a:tailEnd type="oval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831D3A19-029D-EA3F-518E-EE22DDF131E7}"/>
                  </a:ext>
                </a:extLst>
              </p:cNvPr>
              <p:cNvSpPr txBox="1"/>
              <p:nvPr/>
            </p:nvSpPr>
            <p:spPr>
              <a:xfrm>
                <a:off x="3569570" y="3215591"/>
                <a:ext cx="12079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i="1" dirty="0"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rPr lang="en-US" altLang="ja-JP"/>
                  <a:t>(10</a:t>
                </a:r>
                <a:r>
                  <a:rPr lang="en-US" altLang="ja-JP" baseline="30000"/>
                  <a:t>-4</a:t>
                </a:r>
                <a:r>
                  <a:rPr lang="en-US" altLang="ja-JP"/>
                  <a:t>) </a:t>
                </a:r>
                <a:r>
                  <a:rPr lang="en-US" altLang="ja-JP" dirty="0"/>
                  <a:t>Pa</a:t>
                </a:r>
              </a:p>
            </p:txBody>
          </p:sp>
        </mc:Choice>
        <mc:Fallback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831D3A19-029D-EA3F-518E-EE22DDF13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9570" y="3215591"/>
                <a:ext cx="1207953" cy="369332"/>
              </a:xfrm>
              <a:prstGeom prst="rect">
                <a:avLst/>
              </a:prstGeom>
              <a:blipFill>
                <a:blip r:embed="rId3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直線コネクタ 46">
            <a:extLst>
              <a:ext uri="{FF2B5EF4-FFF2-40B4-BE49-F238E27FC236}">
                <a16:creationId xmlns:a16="http://schemas.microsoft.com/office/drawing/2014/main" id="{51849CA3-1087-3254-259B-DCECF2C0FF26}"/>
              </a:ext>
            </a:extLst>
          </p:cNvPr>
          <p:cNvCxnSpPr>
            <a:cxnSpLocks/>
          </p:cNvCxnSpPr>
          <p:nvPr/>
        </p:nvCxnSpPr>
        <p:spPr>
          <a:xfrm flipH="1" flipV="1">
            <a:off x="4262436" y="1845402"/>
            <a:ext cx="381000" cy="60462"/>
          </a:xfrm>
          <a:prstGeom prst="line">
            <a:avLst/>
          </a:prstGeom>
          <a:ln w="12700">
            <a:solidFill>
              <a:srgbClr val="E40C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513569A-AB11-6304-466C-5E62D276D17E}"/>
              </a:ext>
            </a:extLst>
          </p:cNvPr>
          <p:cNvSpPr txBox="1"/>
          <p:nvPr/>
        </p:nvSpPr>
        <p:spPr>
          <a:xfrm rot="598476">
            <a:off x="76891" y="684701"/>
            <a:ext cx="30930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solidFill>
                  <a:schemeClr val="bg1"/>
                </a:solidFill>
              </a:rPr>
              <a:t>Proton beam from MR </a:t>
            </a:r>
          </a:p>
          <a:p>
            <a:pPr algn="ctr"/>
            <a:r>
              <a:rPr lang="en-US" altLang="ja-JP" dirty="0">
                <a:solidFill>
                  <a:schemeClr val="bg1"/>
                </a:solidFill>
              </a:rPr>
              <a:t>(C-line)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0FB35778-F1A7-A1E5-814A-D7DD8A4927F0}"/>
              </a:ext>
            </a:extLst>
          </p:cNvPr>
          <p:cNvSpPr txBox="1"/>
          <p:nvPr/>
        </p:nvSpPr>
        <p:spPr>
          <a:xfrm rot="19043366">
            <a:off x="-644360" y="1869113"/>
            <a:ext cx="28210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solidFill>
                  <a:schemeClr val="bg1"/>
                </a:solidFill>
              </a:rPr>
              <a:t>Muon transport </a:t>
            </a:r>
            <a:br>
              <a:rPr lang="en-US" altLang="ja-JP" dirty="0">
                <a:solidFill>
                  <a:schemeClr val="bg1"/>
                </a:solidFill>
              </a:rPr>
            </a:br>
            <a:r>
              <a:rPr lang="en-US" altLang="ja-JP" dirty="0">
                <a:solidFill>
                  <a:schemeClr val="bg1"/>
                </a:solidFill>
              </a:rPr>
              <a:t>solenoid</a:t>
            </a: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E7A13E6F-66C5-65B0-8613-C4B5459ECD66}"/>
              </a:ext>
            </a:extLst>
          </p:cNvPr>
          <p:cNvSpPr txBox="1"/>
          <p:nvPr/>
        </p:nvSpPr>
        <p:spPr>
          <a:xfrm rot="565042">
            <a:off x="7511235" y="751891"/>
            <a:ext cx="2515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COMET beam room</a:t>
            </a:r>
          </a:p>
        </p:txBody>
      </p: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0CCECB52-0D2D-FE1B-C09B-D0FF6A963CB2}"/>
              </a:ext>
            </a:extLst>
          </p:cNvPr>
          <p:cNvCxnSpPr>
            <a:cxnSpLocks/>
            <a:stCxn id="66" idx="0"/>
          </p:cNvCxnSpPr>
          <p:nvPr/>
        </p:nvCxnSpPr>
        <p:spPr>
          <a:xfrm flipV="1">
            <a:off x="5742158" y="2141661"/>
            <a:ext cx="197473" cy="1233860"/>
          </a:xfrm>
          <a:prstGeom prst="straightConnector1">
            <a:avLst/>
          </a:prstGeom>
          <a:ln>
            <a:solidFill>
              <a:schemeClr val="tx1"/>
            </a:solidFill>
            <a:tailEnd type="oval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E68BEDA9-7359-31D9-7DDD-DF54B3A2FEB6}"/>
              </a:ext>
            </a:extLst>
          </p:cNvPr>
          <p:cNvSpPr txBox="1"/>
          <p:nvPr/>
        </p:nvSpPr>
        <p:spPr>
          <a:xfrm>
            <a:off x="4650967" y="3375521"/>
            <a:ext cx="2182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Production target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8D0E2EA5-A404-2888-F1AB-FB5CAA8FBD43}"/>
              </a:ext>
            </a:extLst>
          </p:cNvPr>
          <p:cNvSpPr txBox="1"/>
          <p:nvPr/>
        </p:nvSpPr>
        <p:spPr>
          <a:xfrm>
            <a:off x="3569570" y="623166"/>
            <a:ext cx="3093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Pion capture solenoid (CS)</a:t>
            </a: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BE8A343F-C032-3E9D-2FFA-B53043BCF3C1}"/>
              </a:ext>
            </a:extLst>
          </p:cNvPr>
          <p:cNvSpPr txBox="1"/>
          <p:nvPr/>
        </p:nvSpPr>
        <p:spPr>
          <a:xfrm>
            <a:off x="1398136" y="3859973"/>
            <a:ext cx="1398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solidFill>
                  <a:schemeClr val="bg1"/>
                </a:solidFill>
              </a:rPr>
              <a:t>to detectors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91940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98</TotalTime>
  <Words>38</Words>
  <Application>Microsoft Office PowerPoint</Application>
  <PresentationFormat>ユーザー設定</PresentationFormat>
  <Paragraphs>12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Yusuke Uchiyama</dc:creator>
  <cp:lastModifiedBy>Yusuke Uchiyama</cp:lastModifiedBy>
  <cp:revision>2</cp:revision>
  <dcterms:created xsi:type="dcterms:W3CDTF">2024-12-24T07:01:47Z</dcterms:created>
  <dcterms:modified xsi:type="dcterms:W3CDTF">2025-12-10T05:56:55Z</dcterms:modified>
</cp:coreProperties>
</file>